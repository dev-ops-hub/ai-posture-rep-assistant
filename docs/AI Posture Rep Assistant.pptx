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259" r:id="rId4"/>
    <p:sldId id="260" r:id="rId5"/>
    <p:sldId id="268" r:id="rId6"/>
    <p:sldId id="261" r:id="rId7"/>
    <p:sldId id="262" r:id="rId8"/>
    <p:sldId id="263" r:id="rId9"/>
    <p:sldId id="267" r:id="rId10"/>
    <p:sldId id="269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8"/>
  </p:normalViewPr>
  <p:slideViewPr>
    <p:cSldViewPr snapToGrid="0" snapToObjects="1">
      <p:cViewPr varScale="1">
        <p:scale>
          <a:sx n="117" d="100"/>
          <a:sy n="117" d="100"/>
        </p:scale>
        <p:origin x="2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2576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1DE89-4744-496F-74EA-0C5D3C059A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AEE6B5-A7F3-4144-BFC0-D28C425DD1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885C9F-30D0-984E-89B7-11E9DF207BAA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BAEF49-9F27-1AC7-990C-5BB5307E75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8AC08-3A9C-FF65-5196-0BAB9488FF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A01B4-4081-A048-9D0E-42610FC32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4886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549A2-17DF-CF40-B8BD-B1DECB841685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7DA975-D72B-2246-838B-AE9987A13C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6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DA975-D72B-2246-838B-AE9987A13C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99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7F08041-90FA-4745-765D-F066F732D62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294578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4362450"/>
            <a:ext cx="762000" cy="38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0440" y="2533650"/>
            <a:ext cx="8951118" cy="767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00"/>
              </a:lnSpc>
            </a:pPr>
            <a:r>
              <a:rPr lang="en-US" sz="5700" b="1" i="0" u="none" dirty="0">
                <a:latin typeface="Bebas Neue"/>
              </a:rPr>
              <a:t>AI Posture Rep Assistant</a:t>
            </a:r>
            <a:endParaRPr sz="5700" b="1" i="0" u="none" dirty="0">
              <a:latin typeface="Bebas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67000" y="3409950"/>
            <a:ext cx="685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SG" sz="1500" b="1" dirty="0"/>
              <a:t>Real-time squat rep counting, posture-fault detection, and AI-generated</a:t>
            </a:r>
          </a:p>
          <a:p>
            <a:pPr algn="ctr">
              <a:lnSpc>
                <a:spcPct val="125000"/>
              </a:lnSpc>
            </a:pPr>
            <a:r>
              <a:rPr lang="en-SG" sz="1500" b="1" dirty="0"/>
              <a:t>coaching — built as four cooperating edge + cloud agents</a:t>
            </a:r>
            <a:r>
              <a:rPr lang="en-SG" sz="1500" b="1" dirty="0">
                <a:solidFill>
                  <a:srgbClr val="9CA9C0"/>
                </a:solidFill>
              </a:rPr>
              <a:t>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37" y="2024062"/>
            <a:ext cx="133350" cy="133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19637" y="2000250"/>
            <a:ext cx="29813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38BDF8"/>
                </a:solidFill>
                <a:latin typeface="Bebas Neue"/>
              </a:rPr>
              <a:t>FUTURE OF AI TECHNOLOGY • MASTER TEMPLATE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025" y="4800600"/>
            <a:ext cx="133350" cy="1333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825" y="4800600"/>
            <a:ext cx="1714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900" y="4800600"/>
            <a:ext cx="133350" cy="133350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C0DB46B-A87C-ED04-59C9-C719A4B7D4E4}"/>
              </a:ext>
            </a:extLst>
          </p:cNvPr>
          <p:cNvSpPr/>
          <p:nvPr/>
        </p:nvSpPr>
        <p:spPr>
          <a:xfrm>
            <a:off x="2667000" y="4120318"/>
            <a:ext cx="880213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Calibri"/>
              </a:rPr>
              <a:t>Python 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00597C0-DB61-6287-0C07-06A07075B593}"/>
              </a:ext>
            </a:extLst>
          </p:cNvPr>
          <p:cNvSpPr/>
          <p:nvPr/>
        </p:nvSpPr>
        <p:spPr>
          <a:xfrm>
            <a:off x="3693517" y="4120318"/>
            <a:ext cx="1062532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>
                <a:solidFill>
                  <a:schemeClr val="bg1"/>
                </a:solidFill>
                <a:latin typeface="Calibri"/>
              </a:rPr>
              <a:t>MediaPipe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CC4F32-EA63-28CA-63B2-D212D15E7560}"/>
              </a:ext>
            </a:extLst>
          </p:cNvPr>
          <p:cNvSpPr/>
          <p:nvPr/>
        </p:nvSpPr>
        <p:spPr>
          <a:xfrm>
            <a:off x="4902353" y="4120318"/>
            <a:ext cx="793699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>
                <a:solidFill>
                  <a:schemeClr val="bg1"/>
                </a:solidFill>
                <a:latin typeface="Calibri"/>
              </a:rPr>
              <a:t>OpenCV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9EFA40E-7A2D-BC12-AE14-7666A11D8D76}"/>
              </a:ext>
            </a:extLst>
          </p:cNvPr>
          <p:cNvSpPr/>
          <p:nvPr/>
        </p:nvSpPr>
        <p:spPr>
          <a:xfrm>
            <a:off x="5842356" y="4120318"/>
            <a:ext cx="1420977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>
                <a:solidFill>
                  <a:schemeClr val="bg1"/>
                </a:solidFill>
                <a:latin typeface="Calibri"/>
              </a:rPr>
              <a:t>OpenAI GPT-4o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AAF432C-D2B3-606B-6B55-4B37AA98B9B3}"/>
              </a:ext>
            </a:extLst>
          </p:cNvPr>
          <p:cNvSpPr/>
          <p:nvPr/>
        </p:nvSpPr>
        <p:spPr>
          <a:xfrm>
            <a:off x="7409637" y="4120318"/>
            <a:ext cx="704088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>
                <a:solidFill>
                  <a:schemeClr val="bg1"/>
                </a:solidFill>
                <a:latin typeface="Calibri"/>
              </a:rPr>
              <a:t>Flask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503C716-1669-FC4F-9E63-F858FF927F15}"/>
              </a:ext>
            </a:extLst>
          </p:cNvPr>
          <p:cNvSpPr/>
          <p:nvPr/>
        </p:nvSpPr>
        <p:spPr>
          <a:xfrm>
            <a:off x="8260029" y="4120318"/>
            <a:ext cx="88331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w="12700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0800" tIns="0" rIns="50800" bIns="0" rtlCol="0" anchor="ctr"/>
          <a:lstStyle/>
          <a:p>
            <a:pPr algn="ctr"/>
            <a:r>
              <a:rPr sz="1150" b="1" dirty="0">
                <a:solidFill>
                  <a:schemeClr val="bg1"/>
                </a:solidFill>
                <a:latin typeface="Calibri"/>
              </a:rPr>
              <a:t>pyttsx3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E4823F6F-ED49-36C8-668C-41021B4658FB}"/>
              </a:ext>
            </a:extLst>
          </p:cNvPr>
          <p:cNvSpPr/>
          <p:nvPr/>
        </p:nvSpPr>
        <p:spPr>
          <a:xfrm>
            <a:off x="609600" y="2359242"/>
            <a:ext cx="9637059" cy="392053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2563EB"/>
                </a:solidFill>
                <a:latin typeface="Bebas Neue"/>
              </a:rPr>
              <a:t>Product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300" b="1" i="0" u="none" dirty="0">
                <a:solidFill>
                  <a:srgbClr val="0F172A"/>
                </a:solidFill>
                <a:latin typeface="Bebas Neue"/>
              </a:rPr>
              <a:t>What It </a:t>
            </a:r>
            <a:r>
              <a:rPr lang="en-US" sz="3300" b="1" i="0" u="none" dirty="0" err="1">
                <a:solidFill>
                  <a:srgbClr val="0F172A"/>
                </a:solidFill>
                <a:latin typeface="Bebas Neue"/>
              </a:rPr>
              <a:t>dOES</a:t>
            </a:r>
            <a:endParaRPr sz="3300" b="1" i="0" u="none" dirty="0">
              <a:solidFill>
                <a:srgbClr val="0F172A"/>
              </a:solidFill>
              <a:latin typeface="Bebas Neu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41B36-E192-5E80-AA75-44834919D3B1}"/>
              </a:ext>
            </a:extLst>
          </p:cNvPr>
          <p:cNvSpPr txBox="1"/>
          <p:nvPr/>
        </p:nvSpPr>
        <p:spPr>
          <a:xfrm>
            <a:off x="609600" y="1158913"/>
            <a:ext cx="11170024" cy="1200329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1000"/>
              </a:spcAft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AI Posture Rep Assistant is a Python application that </a:t>
            </a:r>
            <a:r>
              <a:rPr lang="en-US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watches a user perform squats through a webcam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, </a:t>
            </a:r>
            <a:r>
              <a:rPr lang="en-US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counts repetitions, detects sustained posture faults 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(forward lean), and </a:t>
            </a:r>
            <a:r>
              <a:rPr lang="en-US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produces AI-generated coaching feedback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— both during the workout (real-time voice coaching) and at the end of the session (a written summary report).</a:t>
            </a:r>
            <a:endParaRPr lang="en-SG" sz="1800" dirty="0">
              <a:effectLst/>
              <a:latin typeface="Arial" panose="020B0604020202020204" pitchFamily="34" charset="0"/>
              <a:ea typeface="MS Mincho" panose="02020609040205080304" pitchFamily="49" charset="-128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B3B851-B117-CC34-9A8A-7DBCA2407981}"/>
              </a:ext>
            </a:extLst>
          </p:cNvPr>
          <p:cNvSpPr/>
          <p:nvPr/>
        </p:nvSpPr>
        <p:spPr>
          <a:xfrm>
            <a:off x="765048" y="2486787"/>
            <a:ext cx="82296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3F691-289F-FC5B-B46C-1FEA83D694B2}"/>
              </a:ext>
            </a:extLst>
          </p:cNvPr>
          <p:cNvSpPr txBox="1"/>
          <p:nvPr/>
        </p:nvSpPr>
        <p:spPr>
          <a:xfrm>
            <a:off x="1021079" y="2486786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 rep counting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AA6B0E-3DC2-C866-A0CD-B0C94D04AC71}"/>
              </a:ext>
            </a:extLst>
          </p:cNvPr>
          <p:cNvSpPr txBox="1"/>
          <p:nvPr/>
        </p:nvSpPr>
        <p:spPr>
          <a:xfrm>
            <a:off x="1021080" y="2870834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Tracks squat reps in real time with OpenCV + </a:t>
            </a:r>
            <a:r>
              <a:rPr sz="1600" b="0" i="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NumPy — zero network latency.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82AB20-ED63-8C5F-13CD-E87007FA213C}"/>
              </a:ext>
            </a:extLst>
          </p:cNvPr>
          <p:cNvSpPr/>
          <p:nvPr/>
        </p:nvSpPr>
        <p:spPr>
          <a:xfrm>
            <a:off x="5391478" y="2486787"/>
            <a:ext cx="82296" cy="1078992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7D55F6-C62C-63F5-4FA0-86F6D829222B}"/>
              </a:ext>
            </a:extLst>
          </p:cNvPr>
          <p:cNvSpPr txBox="1"/>
          <p:nvPr/>
        </p:nvSpPr>
        <p:spPr>
          <a:xfrm>
            <a:off x="5647509" y="2486786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Posture-fault detection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9F43B7-048C-087A-6E23-8E3195BCCA0D}"/>
              </a:ext>
            </a:extLst>
          </p:cNvPr>
          <p:cNvSpPr txBox="1"/>
          <p:nvPr/>
        </p:nvSpPr>
        <p:spPr>
          <a:xfrm>
            <a:off x="5647509" y="2870834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Flags sustained forward-lean (spine angle) deviations from pose landmarks.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8C74A23-AB67-4A23-9963-9F04286BAF09}"/>
              </a:ext>
            </a:extLst>
          </p:cNvPr>
          <p:cNvSpPr/>
          <p:nvPr/>
        </p:nvSpPr>
        <p:spPr>
          <a:xfrm>
            <a:off x="765048" y="3785235"/>
            <a:ext cx="8229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DAFF76-5BFC-0CFF-F316-D35D700BC638}"/>
              </a:ext>
            </a:extLst>
          </p:cNvPr>
          <p:cNvSpPr txBox="1"/>
          <p:nvPr/>
        </p:nvSpPr>
        <p:spPr>
          <a:xfrm>
            <a:off x="1021079" y="3785234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Real-time voice coaching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864E3-ECA8-0B30-FE64-098B20E1885A}"/>
              </a:ext>
            </a:extLst>
          </p:cNvPr>
          <p:cNvSpPr txBox="1"/>
          <p:nvPr/>
        </p:nvSpPr>
        <p:spPr>
          <a:xfrm>
            <a:off x="1021080" y="4169282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Offline TTS delivers milestones, alerts, and corrections mid-set.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3C21FC-ED49-7D92-BE7E-4801D4992997}"/>
              </a:ext>
            </a:extLst>
          </p:cNvPr>
          <p:cNvSpPr/>
          <p:nvPr/>
        </p:nvSpPr>
        <p:spPr>
          <a:xfrm>
            <a:off x="5391478" y="3785235"/>
            <a:ext cx="82296" cy="107899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DED1E7-C38F-13C8-79A3-99D25F68B2CD}"/>
              </a:ext>
            </a:extLst>
          </p:cNvPr>
          <p:cNvSpPr txBox="1"/>
          <p:nvPr/>
        </p:nvSpPr>
        <p:spPr>
          <a:xfrm>
            <a:off x="5647509" y="3785234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 vision form audits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A05048-6169-D32F-EFE7-F213DC6477FB}"/>
              </a:ext>
            </a:extLst>
          </p:cNvPr>
          <p:cNvSpPr txBox="1"/>
          <p:nvPr/>
        </p:nvSpPr>
        <p:spPr>
          <a:xfrm>
            <a:off x="5647509" y="4169282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Sends posture snapshots to GPT-4o when a fault persists &gt;2s (max 2 calls/session).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70EA269-E525-F433-BE4D-30E81C9AAA42}"/>
              </a:ext>
            </a:extLst>
          </p:cNvPr>
          <p:cNvSpPr/>
          <p:nvPr/>
        </p:nvSpPr>
        <p:spPr>
          <a:xfrm>
            <a:off x="765048" y="5083683"/>
            <a:ext cx="82296" cy="1078992"/>
          </a:xfrm>
          <a:prstGeom prst="rect">
            <a:avLst/>
          </a:prstGeom>
          <a:solidFill>
            <a:srgbClr val="8B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57A0F8-4E8E-8FD4-59A0-35CEBAC22A42}"/>
              </a:ext>
            </a:extLst>
          </p:cNvPr>
          <p:cNvSpPr txBox="1"/>
          <p:nvPr/>
        </p:nvSpPr>
        <p:spPr>
          <a:xfrm>
            <a:off x="1021079" y="5083682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Post-workout AI summary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F2CBC2-787F-7076-9818-5256E02E5660}"/>
              </a:ext>
            </a:extLst>
          </p:cNvPr>
          <p:cNvSpPr txBox="1"/>
          <p:nvPr/>
        </p:nvSpPr>
        <p:spPr>
          <a:xfrm>
            <a:off x="1021080" y="5467730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GPT-4o-mini synthesizes reps, calories, and faults into a coaching report.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48BAD8D-BB71-26D4-C614-CEEA7F3059FD}"/>
              </a:ext>
            </a:extLst>
          </p:cNvPr>
          <p:cNvSpPr/>
          <p:nvPr/>
        </p:nvSpPr>
        <p:spPr>
          <a:xfrm>
            <a:off x="5391478" y="5083683"/>
            <a:ext cx="82296" cy="1078992"/>
          </a:xfrm>
          <a:prstGeom prst="rect">
            <a:avLst/>
          </a:prstGeom>
          <a:solidFill>
            <a:srgbClr val="8B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79227E-5A35-59F7-5B75-CFB4B0CC455A}"/>
              </a:ext>
            </a:extLst>
          </p:cNvPr>
          <p:cNvSpPr txBox="1"/>
          <p:nvPr/>
        </p:nvSpPr>
        <p:spPr>
          <a:xfrm>
            <a:off x="5647509" y="5083682"/>
            <a:ext cx="4320000" cy="27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Browser control panel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9B0C0-C7E5-63CB-9D16-6D92A7CF3383}"/>
              </a:ext>
            </a:extLst>
          </p:cNvPr>
          <p:cNvSpPr txBox="1"/>
          <p:nvPr/>
        </p:nvSpPr>
        <p:spPr>
          <a:xfrm>
            <a:off x="5647509" y="5467730"/>
            <a:ext cx="4320000" cy="5497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Flask UI with Start/Pause/Stop/Quit, a live annotated video stream, and a report modal.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71424DB-9283-30F0-324F-319373BDE31A}"/>
              </a:ext>
            </a:extLst>
          </p:cNvPr>
          <p:cNvSpPr/>
          <p:nvPr/>
        </p:nvSpPr>
        <p:spPr>
          <a:xfrm>
            <a:off x="2030505" y="2823883"/>
            <a:ext cx="7852185" cy="391309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2563EB"/>
                </a:solidFill>
                <a:latin typeface="Bebas Neue"/>
              </a:rPr>
              <a:t>ARCHITECTURE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300" b="1" i="0" u="none" dirty="0" err="1">
                <a:solidFill>
                  <a:srgbClr val="0F172A"/>
                </a:solidFill>
                <a:latin typeface="Bebas Neue"/>
              </a:rPr>
              <a:t>fOUR</a:t>
            </a:r>
            <a:r>
              <a:rPr lang="en-US" sz="3300" b="1" i="0" u="none" dirty="0">
                <a:solidFill>
                  <a:srgbClr val="0F172A"/>
                </a:solidFill>
                <a:latin typeface="Bebas Neue"/>
              </a:rPr>
              <a:t> AGENTS, ONE PIPELINE</a:t>
            </a:r>
            <a:endParaRPr sz="3300" b="1" i="0" u="none" dirty="0">
              <a:solidFill>
                <a:srgbClr val="0F172A"/>
              </a:solidFill>
              <a:latin typeface="Bebas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C303D-6183-5E1C-BA35-1045197D9E42}"/>
              </a:ext>
            </a:extLst>
          </p:cNvPr>
          <p:cNvSpPr txBox="1"/>
          <p:nvPr/>
        </p:nvSpPr>
        <p:spPr>
          <a:xfrm>
            <a:off x="609600" y="1189289"/>
            <a:ext cx="11291047" cy="1477328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The system is built as a small </a:t>
            </a:r>
            <a:r>
              <a:rPr lang="en-US" sz="1800" b="1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multi-agent pipeline</a:t>
            </a:r>
            <a:r>
              <a:rPr lang="en-US" sz="1800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 local computer-vision agent does all real-time tracking,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cloud LLM agents (OpenAI) are consulted only when needed (on sustained posture faults)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 cloud LLM agents (OpenAI) are consulted (</a:t>
            </a: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at the end of the session) to keep cost and latency low.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effectLst/>
                <a:latin typeface="Arial" panose="020B0604020202020204" pitchFamily="34" charset="0"/>
                <a:ea typeface="MS Mincho" panose="02020609040205080304" pitchFamily="49" charset="-128"/>
                <a:cs typeface="Arial" panose="020B0604020202020204" pitchFamily="34" charset="0"/>
              </a:rPr>
              <a:t>A fourth agent provides offline text-to-speech coaching</a:t>
            </a:r>
            <a:r>
              <a:rPr lang="en-SG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5558FE6-2134-7D95-0F37-957D2CD1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309" y="2971800"/>
            <a:ext cx="7372574" cy="35769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457200"/>
            <a:ext cx="10972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>
                <a:solidFill>
                  <a:srgbClr val="2563EB"/>
                </a:solidFill>
                <a:latin typeface="Bebas Neue"/>
              </a:rPr>
              <a:t>PERFORMANCE SPOTLIGHT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300" b="1" dirty="0">
                <a:solidFill>
                  <a:srgbClr val="0F172A"/>
                </a:solidFill>
                <a:latin typeface="Bebas Neue"/>
              </a:rPr>
              <a:t>AGENT DEEP DIVE</a:t>
            </a:r>
            <a:endParaRPr sz="3300" b="1" i="0" u="none" dirty="0">
              <a:solidFill>
                <a:srgbClr val="0F172A"/>
              </a:solidFill>
              <a:latin typeface="Bebas Neue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E6DFC4C-AD6A-C80D-1484-19F634F6DD0C}"/>
              </a:ext>
            </a:extLst>
          </p:cNvPr>
          <p:cNvSpPr/>
          <p:nvPr/>
        </p:nvSpPr>
        <p:spPr>
          <a:xfrm>
            <a:off x="548640" y="1316736"/>
            <a:ext cx="502920" cy="4064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A37E94C-B6D1-7D91-EF26-A60D047C87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588371"/>
              </p:ext>
            </p:extLst>
          </p:nvPr>
        </p:nvGraphicFramePr>
        <p:xfrm>
          <a:off x="548640" y="1356696"/>
          <a:ext cx="11325113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9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9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57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Runtime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Key Libraries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Trigger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Latency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 · Vision &amp; Tracking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CPU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mediapipe, numpy, opencv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Continuous (while </a:t>
                      </a:r>
                      <a:r>
                        <a:rPr sz="1400" dirty="0" err="1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cap.isOpened</a:t>
                      </a:r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())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&lt;33ms / frame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 · Form Audit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API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</a:t>
                      </a:r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base64, cv2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Sustained fault &gt;2.0s (max 2/session)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~2-3s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· Fitness Coach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API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openai, json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of session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~1-2s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· Voice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thread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pyttsx3, queue, threading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Vision/session events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&lt;50ms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E151CBE-EB3C-FEBA-EC5A-FC7C9F7488A8}"/>
              </a:ext>
            </a:extLst>
          </p:cNvPr>
          <p:cNvSpPr txBox="1"/>
          <p:nvPr/>
        </p:nvSpPr>
        <p:spPr>
          <a:xfrm>
            <a:off x="548640" y="4572000"/>
            <a:ext cx="10972800" cy="24622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 dirty="0">
                <a:latin typeface="Arial" panose="020B0604020202020204" pitchFamily="34" charset="0"/>
                <a:cs typeface="Arial" panose="020B0604020202020204" pitchFamily="34" charset="0"/>
              </a:rPr>
              <a:t>Key Methods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C30B59-10B6-2B41-CB1D-D0E4478898B6}"/>
              </a:ext>
            </a:extLst>
          </p:cNvPr>
          <p:cNvSpPr txBox="1"/>
          <p:nvPr/>
        </p:nvSpPr>
        <p:spPr>
          <a:xfrm>
            <a:off x="548640" y="4956048"/>
            <a:ext cx="5394960" cy="1013739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process_frame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 main pipeline: annotated frame, metrics, violation events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›  _</a:t>
            </a:r>
            <a:r>
              <a:rPr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estimate_knee_angle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 visibility-gated dual-leg fusion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›  _</a:t>
            </a:r>
            <a:r>
              <a:rPr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smooth_knee_angle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 EMA filter ahead of the rep FSM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›  _</a:t>
            </a:r>
            <a:r>
              <a:rPr sz="1200" b="1" dirty="0" err="1">
                <a:latin typeface="Arial" panose="020B0604020202020204" pitchFamily="34" charset="0"/>
                <a:cs typeface="Arial" panose="020B0604020202020204" pitchFamily="34" charset="0"/>
              </a:rPr>
              <a:t>update_rep_state</a:t>
            </a:r>
            <a:r>
              <a:rPr sz="1200" b="1" dirty="0">
                <a:latin typeface="Arial" panose="020B0604020202020204" pitchFamily="34" charset="0"/>
                <a:cs typeface="Arial" panose="020B0604020202020204" pitchFamily="34" charset="0"/>
              </a:rPr>
              <a:t>() </a:t>
            </a:r>
            <a:r>
              <a:rPr sz="1200" dirty="0">
                <a:latin typeface="Arial" panose="020B0604020202020204" pitchFamily="34" charset="0"/>
                <a:cs typeface="Arial" panose="020B0604020202020204" pitchFamily="34" charset="0"/>
              </a:rPr>
              <a:t>— FSM with a minimum inter-rep cooldown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CCCB76-3CF9-FD01-1281-A8C9FCE6F293}"/>
              </a:ext>
            </a:extLst>
          </p:cNvPr>
          <p:cNvSpPr txBox="1"/>
          <p:nvPr/>
        </p:nvSpPr>
        <p:spPr>
          <a:xfrm>
            <a:off x="6263640" y="4956048"/>
            <a:ext cx="5394960" cy="737381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›  audit_posture() </a:t>
            </a:r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— fallback to deterministic feedback w/o an API key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›  build_summary() </a:t>
            </a:r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— MET calorie math + templated fallback summary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latin typeface="Arial" panose="020B0604020202020204" pitchFamily="34" charset="0"/>
                <a:cs typeface="Arial" panose="020B0604020202020204" pitchFamily="34" charset="0"/>
              </a:rPr>
              <a:t>›  announce_*() </a:t>
            </a:r>
            <a:r>
              <a:rPr sz="1200">
                <a:latin typeface="Arial" panose="020B0604020202020204" pitchFamily="34" charset="0"/>
                <a:cs typeface="Arial" panose="020B0604020202020204" pitchFamily="34" charset="0"/>
              </a:rPr>
              <a:t>— rep milestones, posture alerts, form notes, session 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0687F-1C4C-D3AF-61C9-5E55D1522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048A931-D78D-0B0E-6D29-9547AEC363E5}"/>
              </a:ext>
            </a:extLst>
          </p:cNvPr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2563EB"/>
                </a:solidFill>
                <a:latin typeface="Bebas Neue"/>
              </a:rPr>
              <a:t>OPERATIONS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A072D-ED5C-2578-C693-3F87E05FA115}"/>
              </a:ext>
            </a:extLst>
          </p:cNvPr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465"/>
              </a:lnSpc>
            </a:pPr>
            <a:r>
              <a:rPr lang="en-US" sz="3300" b="1" dirty="0">
                <a:solidFill>
                  <a:srgbClr val="0F172A"/>
                </a:solidFill>
                <a:latin typeface="Bebas Neue"/>
              </a:rPr>
              <a:t>CONFIGURATION &amp; COST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9285A80-966D-06F3-74BD-139A61FE7CEF}"/>
              </a:ext>
            </a:extLst>
          </p:cNvPr>
          <p:cNvSpPr txBox="1"/>
          <p:nvPr/>
        </p:nvSpPr>
        <p:spPr>
          <a:xfrm>
            <a:off x="548640" y="1554480"/>
            <a:ext cx="53949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 Variables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CB19B4C-702D-5F86-FFCB-125ED0C20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1924839"/>
              </p:ext>
            </p:extLst>
          </p:nvPr>
        </p:nvGraphicFramePr>
        <p:xfrm>
          <a:off x="548640" y="1920240"/>
          <a:ext cx="6309359" cy="3779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45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6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Variable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Default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USER_WEIGHT_KG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Calorie calculation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FITNESS_GOAL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general fitness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Personalizes coaching copy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WORKOUT_MET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 value for exercise intensity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CAMERA_INDEX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Webcam device index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OPENAI_API_KEY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(unset)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Enables audit/coach AI; else fallback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VOICE_ENABLED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Toggle voice feedback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VOICE_RATE / VOLUME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150 / 1.0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Speech WPM / volume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WEB_PORT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 dev server port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B4C752B8-3DBD-C1F2-C95C-D9350CDB42BF}"/>
              </a:ext>
            </a:extLst>
          </p:cNvPr>
          <p:cNvSpPr txBox="1"/>
          <p:nvPr/>
        </p:nvSpPr>
        <p:spPr>
          <a:xfrm>
            <a:off x="7178040" y="1554480"/>
            <a:ext cx="448056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Per-Session Cost (OpenAI)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BB82081-9F54-A8EE-26B1-BBC240760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5559877"/>
              </p:ext>
            </p:extLst>
          </p:nvPr>
        </p:nvGraphicFramePr>
        <p:xfrm>
          <a:off x="7178040" y="1920240"/>
          <a:ext cx="448056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1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Agent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Vision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$0.00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runs locally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$0.00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runs locally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Audit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~$0.0025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snapshot (2 typical)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Coach Agent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~$0.0001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session summary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85FE18B-6791-4FDD-950B-735B381BD8B9}"/>
              </a:ext>
            </a:extLst>
          </p:cNvPr>
          <p:cNvSpPr/>
          <p:nvPr/>
        </p:nvSpPr>
        <p:spPr>
          <a:xfrm>
            <a:off x="7178040" y="3853636"/>
            <a:ext cx="4480560" cy="77724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127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ED42BC-FA4E-52AF-06E2-0759E37FF935}"/>
              </a:ext>
            </a:extLst>
          </p:cNvPr>
          <p:cNvSpPr txBox="1"/>
          <p:nvPr/>
        </p:nvSpPr>
        <p:spPr>
          <a:xfrm>
            <a:off x="7406640" y="3972508"/>
            <a:ext cx="4023360" cy="493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dirty="0">
                <a:solidFill>
                  <a:srgbClr val="2DD4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~$0.0051 per 5-minute workout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 dirty="0">
                <a:solidFill>
                  <a:srgbClr val="2DD4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≈ $0.10 / month at 20 sessions</a:t>
            </a:r>
          </a:p>
        </p:txBody>
      </p:sp>
    </p:spTree>
    <p:extLst>
      <p:ext uri="{BB962C8B-B14F-4D97-AF65-F5344CB8AC3E}">
        <p14:creationId xmlns:p14="http://schemas.microsoft.com/office/powerpoint/2010/main" val="155869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>
                <a:solidFill>
                  <a:srgbClr val="2563EB"/>
                </a:solidFill>
                <a:latin typeface="Bebas Neue"/>
              </a:rPr>
              <a:t>stack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sz="3300" b="1" i="0" u="none" dirty="0">
                <a:solidFill>
                  <a:srgbClr val="0F172A"/>
                </a:solidFill>
                <a:latin typeface="Bebas Neue"/>
              </a:rPr>
              <a:t>TECHNOLOGY </a:t>
            </a:r>
            <a:r>
              <a:rPr lang="en-US" sz="3300" b="1" i="0" u="none" dirty="0">
                <a:solidFill>
                  <a:srgbClr val="0F172A"/>
                </a:solidFill>
                <a:latin typeface="Bebas Neue"/>
              </a:rPr>
              <a:t>STACK</a:t>
            </a:r>
            <a:endParaRPr sz="3300" b="1" i="0" u="none" dirty="0">
              <a:solidFill>
                <a:srgbClr val="0F172A"/>
              </a:solidFill>
              <a:latin typeface="Bebas Neue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74A35B9-85DC-8A04-B438-0E109BE6DC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464123"/>
              </p:ext>
            </p:extLst>
          </p:nvPr>
        </p:nvGraphicFramePr>
        <p:xfrm>
          <a:off x="609600" y="1792493"/>
          <a:ext cx="11109958" cy="4160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16182">
                  <a:extLst>
                    <a:ext uri="{9D8B030D-6E8A-4147-A177-3AD203B41FA5}">
                      <a16:colId xmlns:a16="http://schemas.microsoft.com/office/drawing/2014/main" val="302061718"/>
                    </a:ext>
                  </a:extLst>
                </a:gridCol>
                <a:gridCol w="2380705">
                  <a:extLst>
                    <a:ext uri="{9D8B030D-6E8A-4147-A177-3AD203B41FA5}">
                      <a16:colId xmlns:a16="http://schemas.microsoft.com/office/drawing/2014/main" val="1849980075"/>
                    </a:ext>
                  </a:extLst>
                </a:gridCol>
                <a:gridCol w="6613071">
                  <a:extLst>
                    <a:ext uri="{9D8B030D-6E8A-4147-A177-3AD203B41FA5}">
                      <a16:colId xmlns:a16="http://schemas.microsoft.com/office/drawing/2014/main" val="986790456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Layer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Technology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Purpose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67998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Language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 3.11+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Unified runtime for CV, logic, and LLM orchestration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357847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Video pipeline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opencv-python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Webcam input, canvas drawing, frame output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38560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Pose detection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mediapipe 0.10.9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 3D body keypoint tracking at 30+ FPS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37106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Math / geometry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Vector operations for joint-angle calculation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241721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AI coaching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openai SDK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Multimodal form auditing + session summaries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026782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Voice feedback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pyttsx3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Local offline text-to-speech coaching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297165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 frontend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Flask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panel, REST API, MJPEG video streaming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275086"/>
                  </a:ext>
                </a:extLst>
              </a:tr>
              <a:tr h="4622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Testing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 err="1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pytest</a:t>
                      </a:r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sz="1400" dirty="0" err="1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pytest-cov</a:t>
                      </a:r>
                      <a:endParaRPr sz="1400" dirty="0">
                        <a:solidFill>
                          <a:srgbClr val="F5F7FA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testing — 89 tests, 77% coverage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48291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F8CA88D-D076-D76C-8827-C88F931C2997}"/>
              </a:ext>
            </a:extLst>
          </p:cNvPr>
          <p:cNvSpPr/>
          <p:nvPr/>
        </p:nvSpPr>
        <p:spPr>
          <a:xfrm>
            <a:off x="494180" y="2761112"/>
            <a:ext cx="11636859" cy="4096887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2563EB"/>
                </a:solidFill>
                <a:latin typeface="Bebas Neue"/>
              </a:rPr>
              <a:t>ALGORITHM DETECTION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465"/>
              </a:lnSpc>
            </a:pPr>
            <a:r>
              <a:rPr lang="en-US" sz="3300" b="1" i="0" u="none" dirty="0">
                <a:solidFill>
                  <a:srgbClr val="0F172A"/>
                </a:solidFill>
                <a:latin typeface="Bebas Neue"/>
              </a:rPr>
              <a:t>ANATOMY OF A SQUAT REP</a:t>
            </a:r>
            <a:endParaRPr sz="3300" b="1" i="0" u="none" dirty="0">
              <a:solidFill>
                <a:srgbClr val="0F172A"/>
              </a:solidFill>
              <a:latin typeface="Bebas Neue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2FA4E5C-2634-E817-14F6-E759AA605B2C}"/>
              </a:ext>
            </a:extLst>
          </p:cNvPr>
          <p:cNvCxnSpPr>
            <a:cxnSpLocks/>
          </p:cNvCxnSpPr>
          <p:nvPr/>
        </p:nvCxnSpPr>
        <p:spPr>
          <a:xfrm>
            <a:off x="6158753" y="860612"/>
            <a:ext cx="0" cy="1992693"/>
          </a:xfrm>
          <a:prstGeom prst="line">
            <a:avLst/>
          </a:prstGeom>
          <a:ln w="63500" cmpd="thickThin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9181B54-F5D0-B621-FA8A-EAFDAF1B85E2}"/>
              </a:ext>
            </a:extLst>
          </p:cNvPr>
          <p:cNvSpPr txBox="1"/>
          <p:nvPr/>
        </p:nvSpPr>
        <p:spPr>
          <a:xfrm>
            <a:off x="494180" y="1158913"/>
            <a:ext cx="5601818" cy="1418337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450"/>
              </a:spcAft>
              <a:buNone/>
            </a:pPr>
            <a:r>
              <a:rPr lang="en-SG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Four points, two angles</a:t>
            </a:r>
          </a:p>
          <a:p>
            <a:pPr marL="0" marR="0" indent="0" algn="just">
              <a:spcAft>
                <a:spcPts val="1050"/>
              </a:spcAft>
              <a:buNone/>
            </a:pPr>
            <a:r>
              <a:rPr lang="en-SG" sz="16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MediaPipe</a:t>
            </a:r>
            <a:r>
              <a:rPr lang="en-SG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Pose returns 33 landmarks per frame. </a:t>
            </a:r>
            <a:r>
              <a:rPr lang="en-SG" sz="16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VisionAgent</a:t>
            </a:r>
            <a:r>
              <a:rPr lang="en-SG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only reads four of them — all on the left side of the body — and reduces them to the two angles that everything downstream depends on</a:t>
            </a:r>
            <a:r>
              <a:rPr lang="en-SG" sz="16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SG" sz="1600" b="0" i="0" dirty="0">
              <a:solidFill>
                <a:srgbClr val="626B62"/>
              </a:solidFill>
              <a:effectLst/>
              <a:latin typeface="IBM Plex Sans" panose="020B0503050203000203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0CA3646-8094-5FB9-20E8-DB31A7AC0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53305"/>
            <a:ext cx="5423648" cy="388367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FAB8D2-BB1D-D3D2-1517-48152AA7FBBE}"/>
              </a:ext>
            </a:extLst>
          </p:cNvPr>
          <p:cNvSpPr txBox="1"/>
          <p:nvPr/>
        </p:nvSpPr>
        <p:spPr>
          <a:xfrm>
            <a:off x="6222403" y="1189289"/>
            <a:ext cx="5821680" cy="1172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450"/>
              </a:spcAft>
              <a:buNone/>
            </a:pPr>
            <a:r>
              <a:rPr lang="en-SG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Knee angle drives the rep counter</a:t>
            </a:r>
          </a:p>
          <a:p>
            <a:pPr marL="0" marR="0" indent="0" algn="just">
              <a:spcAft>
                <a:spcPts val="1050"/>
              </a:spcAft>
              <a:buNone/>
            </a:pPr>
            <a:r>
              <a:rPr lang="en-SG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Every frame's knee angle is fed into a small state machine (</a:t>
            </a:r>
            <a:r>
              <a:rPr lang="en-SG" sz="1600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SquatState</a:t>
            </a:r>
            <a:r>
              <a:rPr lang="en-SG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). A rep is only counted on the way back up, so a partial dip that never breaks 90° never score</a:t>
            </a:r>
            <a:endParaRPr lang="en-SG" sz="1600" b="0" i="0" dirty="0">
              <a:solidFill>
                <a:srgbClr val="626B6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DE5DD1B-2EA7-EF4A-C582-207D596EE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035" y="2853305"/>
            <a:ext cx="5567084" cy="38371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AD315DB-E530-0A56-9E04-F0D9F78B62FC}"/>
              </a:ext>
            </a:extLst>
          </p:cNvPr>
          <p:cNvSpPr/>
          <p:nvPr/>
        </p:nvSpPr>
        <p:spPr>
          <a:xfrm>
            <a:off x="609599" y="2218766"/>
            <a:ext cx="9650507" cy="463923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b="0" i="0" u="none" dirty="0">
                <a:solidFill>
                  <a:srgbClr val="2563EB"/>
                </a:solidFill>
                <a:latin typeface="Bebas Neue"/>
              </a:rPr>
              <a:t>DETECTION ALGORITHM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465"/>
              </a:lnSpc>
            </a:pPr>
            <a:r>
              <a:rPr lang="en-US" sz="3300" b="1" dirty="0">
                <a:solidFill>
                  <a:srgbClr val="0F172A"/>
                </a:solidFill>
                <a:latin typeface="Bebas Neue"/>
              </a:rPr>
              <a:t>POSTURE FAULT DETECTION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4EE1A4-043A-6BE5-102C-F2FF27899FE1}"/>
              </a:ext>
            </a:extLst>
          </p:cNvPr>
          <p:cNvSpPr txBox="1"/>
          <p:nvPr/>
        </p:nvSpPr>
        <p:spPr>
          <a:xfrm>
            <a:off x="609599" y="1158913"/>
            <a:ext cx="10201835" cy="956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450"/>
              </a:spcAft>
              <a:buNone/>
            </a:pPr>
            <a:r>
              <a:rPr lang="en-SG" sz="1800" b="1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Spine angle drives the posture-fault timer</a:t>
            </a:r>
          </a:p>
          <a:p>
            <a:pPr marL="0" marR="0" indent="0" algn="l">
              <a:spcAft>
                <a:spcPts val="1050"/>
              </a:spcAft>
              <a:buNone/>
            </a:pPr>
            <a:r>
              <a:rPr lang="en-SG" sz="16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 parallel, the spine angle is checked against a much stricter limit. Crossing it doesn't fault immediately — it has to stay crossed for a sustained hold before an audit event fires, and each session only gets so many</a:t>
            </a:r>
            <a:r>
              <a:rPr lang="en-SG" sz="1800" b="0" i="0" dirty="0"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SG" sz="1200" b="0" i="0" dirty="0">
              <a:solidFill>
                <a:srgbClr val="626B6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1C20639-F393-94B5-4D92-994BF5458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647" y="2434698"/>
            <a:ext cx="9126071" cy="4087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B1D02-84C0-B958-50F1-06C864EE9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B07E7F7-BF0C-207C-9197-B7A0F1E1FCD7}"/>
              </a:ext>
            </a:extLst>
          </p:cNvPr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>
                <a:solidFill>
                  <a:srgbClr val="2563EB"/>
                </a:solidFill>
                <a:latin typeface="Bebas Neue"/>
              </a:rPr>
              <a:t>quality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3A6A65-2A6F-C1FF-8E04-AA208E94AA2E}"/>
              </a:ext>
            </a:extLst>
          </p:cNvPr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465"/>
              </a:lnSpc>
            </a:pPr>
            <a:r>
              <a:rPr lang="en-US" sz="3300" b="1" dirty="0">
                <a:solidFill>
                  <a:srgbClr val="0F172A"/>
                </a:solidFill>
                <a:latin typeface="Bebas Neue"/>
              </a:rPr>
              <a:t>Testing &amp; coverage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64B777A-B71F-1F0E-4FE3-6CD9F6E6510A}"/>
              </a:ext>
            </a:extLst>
          </p:cNvPr>
          <p:cNvSpPr/>
          <p:nvPr/>
        </p:nvSpPr>
        <p:spPr>
          <a:xfrm>
            <a:off x="54864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0C3477-9976-CEFD-A1C4-00FFB9FC2DBD}"/>
              </a:ext>
            </a:extLst>
          </p:cNvPr>
          <p:cNvSpPr txBox="1"/>
          <p:nvPr/>
        </p:nvSpPr>
        <p:spPr>
          <a:xfrm>
            <a:off x="548640" y="16642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89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88D275-4756-9A54-E38E-67FE49FDE425}"/>
              </a:ext>
            </a:extLst>
          </p:cNvPr>
          <p:cNvSpPr txBox="1"/>
          <p:nvPr/>
        </p:nvSpPr>
        <p:spPr>
          <a:xfrm>
            <a:off x="548640" y="2212848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CA9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passing tests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D1B7358-A3F2-EF2C-4C4B-8A98D9CF2BF5}"/>
              </a:ext>
            </a:extLst>
          </p:cNvPr>
          <p:cNvSpPr/>
          <p:nvPr/>
        </p:nvSpPr>
        <p:spPr>
          <a:xfrm>
            <a:off x="333756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CE7BA6-F8C1-5BE2-2DF0-F1B52D43F033}"/>
              </a:ext>
            </a:extLst>
          </p:cNvPr>
          <p:cNvSpPr txBox="1"/>
          <p:nvPr/>
        </p:nvSpPr>
        <p:spPr>
          <a:xfrm>
            <a:off x="3337560" y="16642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77%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84CE41-5C6B-5A7E-8EA0-F24A87410A28}"/>
              </a:ext>
            </a:extLst>
          </p:cNvPr>
          <p:cNvSpPr txBox="1"/>
          <p:nvPr/>
        </p:nvSpPr>
        <p:spPr>
          <a:xfrm>
            <a:off x="3337560" y="2212848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CA9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coverage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B36DA5-EFDD-1E2E-FC95-92EF9E314C87}"/>
              </a:ext>
            </a:extLst>
          </p:cNvPr>
          <p:cNvSpPr/>
          <p:nvPr/>
        </p:nvSpPr>
        <p:spPr>
          <a:xfrm>
            <a:off x="612648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879B08-17BD-C457-5844-4CF900CCA371}"/>
              </a:ext>
            </a:extLst>
          </p:cNvPr>
          <p:cNvSpPr txBox="1"/>
          <p:nvPr/>
        </p:nvSpPr>
        <p:spPr>
          <a:xfrm>
            <a:off x="6126480" y="16642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F03FE-2C3D-D06C-BC72-A61FFA777E81}"/>
              </a:ext>
            </a:extLst>
          </p:cNvPr>
          <p:cNvSpPr txBox="1"/>
          <p:nvPr/>
        </p:nvSpPr>
        <p:spPr>
          <a:xfrm>
            <a:off x="6126480" y="2212848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CA9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 files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A3A706-FC25-9777-6F1C-C2BAB4407E52}"/>
              </a:ext>
            </a:extLst>
          </p:cNvPr>
          <p:cNvSpPr/>
          <p:nvPr/>
        </p:nvSpPr>
        <p:spPr>
          <a:xfrm>
            <a:off x="8915400" y="1554480"/>
            <a:ext cx="2606040" cy="1051560"/>
          </a:xfrm>
          <a:prstGeom prst="roundRect">
            <a:avLst>
              <a:gd name="adj" fmla="val 12000"/>
            </a:avLst>
          </a:prstGeom>
          <a:solidFill>
            <a:srgbClr val="18243B"/>
          </a:solidFill>
          <a:ln w="9525">
            <a:solidFill>
              <a:srgbClr val="2735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CA4145-B2EA-8D16-15FD-9D23BE8147D7}"/>
              </a:ext>
            </a:extLst>
          </p:cNvPr>
          <p:cNvSpPr txBox="1"/>
          <p:nvPr/>
        </p:nvSpPr>
        <p:spPr>
          <a:xfrm>
            <a:off x="8915400" y="16642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2DD4BF"/>
                </a:solidFill>
                <a:latin typeface="Calibri"/>
              </a:rPr>
              <a:t>$0.10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312E7-FA68-FA14-8B36-935539DC3A8D}"/>
              </a:ext>
            </a:extLst>
          </p:cNvPr>
          <p:cNvSpPr txBox="1"/>
          <p:nvPr/>
        </p:nvSpPr>
        <p:spPr>
          <a:xfrm>
            <a:off x="8915400" y="2212848"/>
            <a:ext cx="260604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 dirty="0">
                <a:solidFill>
                  <a:srgbClr val="9CA9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est. / month, 20 workouts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3E82B48-A230-BBDE-21A3-A37FDEADB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595537"/>
              </p:ext>
            </p:extLst>
          </p:nvPr>
        </p:nvGraphicFramePr>
        <p:xfrm>
          <a:off x="548640" y="2834640"/>
          <a:ext cx="7040878" cy="2880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796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7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Coverage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DD4B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Tests</a:t>
                      </a:r>
                    </a:p>
                  </a:txBody>
                  <a:tcPr marL="101600" marR="101600" marT="50800" marB="50800" anchor="ctr">
                    <a:solidFill>
                      <a:srgbClr val="182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server/agents/models.py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server/agents/audit_agent.py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server/agents/coach_agent.py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server/agents/voice_agent.py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79%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server/agents/vision_agent.py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87%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28%*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5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webapp/session_manager.py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— (dedicated file)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F5F7F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101600" marR="101600" marT="38100" marB="38100" anchor="ctr">
                    <a:solidFill>
                      <a:srgbClr val="131D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321A27-3F51-A560-D603-5A1DC855BDA1}"/>
              </a:ext>
            </a:extLst>
          </p:cNvPr>
          <p:cNvSpPr txBox="1"/>
          <p:nvPr/>
        </p:nvSpPr>
        <p:spPr>
          <a:xfrm>
            <a:off x="7818120" y="2834640"/>
            <a:ext cx="384048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latin typeface="Arial" panose="020B0604020202020204" pitchFamily="34" charset="0"/>
                <a:cs typeface="Arial" panose="020B0604020202020204" pitchFamily="34" charset="0"/>
              </a:rPr>
              <a:t>Notes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00BDA5-00B7-6117-B512-D0BEAFCF23BF}"/>
              </a:ext>
            </a:extLst>
          </p:cNvPr>
          <p:cNvSpPr txBox="1"/>
          <p:nvPr/>
        </p:nvSpPr>
        <p:spPr>
          <a:xfrm>
            <a:off x="7818120" y="3246120"/>
            <a:ext cx="3840480" cy="18423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*main.py needs live webcam access for full coverage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webapp/ is covered by its own dedicated test file with a mocked camera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Mocks: OpenAI API, MediaPipe, pyttsx3, webcam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>
                <a:latin typeface="Arial" panose="020B0604020202020204" pitchFamily="34" charset="0"/>
                <a:cs typeface="Arial" panose="020B0604020202020204" pitchFamily="34" charset="0"/>
              </a:rPr>
              <a:t>HTML coverage reports generated in htmlcov/</a:t>
            </a:r>
          </a:p>
        </p:txBody>
      </p:sp>
    </p:spTree>
    <p:extLst>
      <p:ext uri="{BB962C8B-B14F-4D97-AF65-F5344CB8AC3E}">
        <p14:creationId xmlns:p14="http://schemas.microsoft.com/office/powerpoint/2010/main" val="610490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79E45-B0AC-A87A-2D8C-B75591AA1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6F9E855-0F55-77EB-E151-45681CF55C24}"/>
              </a:ext>
            </a:extLst>
          </p:cNvPr>
          <p:cNvSpPr/>
          <p:nvPr/>
        </p:nvSpPr>
        <p:spPr>
          <a:xfrm>
            <a:off x="624840" y="1189290"/>
            <a:ext cx="10759440" cy="5091768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3FE9FA-CCF0-EA77-24E3-8D60E34B7AFE}"/>
              </a:ext>
            </a:extLst>
          </p:cNvPr>
          <p:cNvSpPr txBox="1"/>
          <p:nvPr/>
        </p:nvSpPr>
        <p:spPr>
          <a:xfrm>
            <a:off x="609600" y="457200"/>
            <a:ext cx="1097280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>
                <a:solidFill>
                  <a:srgbClr val="2563EB"/>
                </a:solidFill>
                <a:latin typeface="Bebas Neue"/>
              </a:rPr>
              <a:t>Dataset</a:t>
            </a:r>
            <a:endParaRPr sz="1350" b="0" i="0" u="none" dirty="0">
              <a:solidFill>
                <a:srgbClr val="2563EB"/>
              </a:solidFill>
              <a:latin typeface="Bebas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7E9D8-CA1A-E755-CD4D-C842EC07FC4E}"/>
              </a:ext>
            </a:extLst>
          </p:cNvPr>
          <p:cNvSpPr txBox="1"/>
          <p:nvPr/>
        </p:nvSpPr>
        <p:spPr>
          <a:xfrm>
            <a:off x="609600" y="695325"/>
            <a:ext cx="11521440" cy="463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3465"/>
              </a:lnSpc>
            </a:pPr>
            <a:r>
              <a:rPr lang="en-US" sz="3300" b="1" dirty="0">
                <a:solidFill>
                  <a:srgbClr val="0F172A"/>
                </a:solidFill>
                <a:latin typeface="Bebas Neue"/>
              </a:rPr>
              <a:t>Data contracts between agents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679991-AAAC-CA91-D6C4-A4C74C3BE048}"/>
              </a:ext>
            </a:extLst>
          </p:cNvPr>
          <p:cNvSpPr txBox="1"/>
          <p:nvPr/>
        </p:nvSpPr>
        <p:spPr>
          <a:xfrm>
            <a:off x="731520" y="1609344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2DD4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 1 → Agent 2  (on posture fault)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D428BE-C134-2B4F-6D6D-E55C7F08C1AB}"/>
              </a:ext>
            </a:extLst>
          </p:cNvPr>
          <p:cNvSpPr txBox="1"/>
          <p:nvPr/>
        </p:nvSpPr>
        <p:spPr>
          <a:xfrm>
            <a:off x="731520" y="1993392"/>
            <a:ext cx="5029200" cy="211256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2DD4B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PostureViolationEvent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sender: "Agent_1_Vision"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recipient: "Agent_2_FormAudit"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event_type: "POSTURE_VIOLATION"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DD3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metrics: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spine_angle_deg: 22.4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knee_angle_deg: 84.1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violation_duration_sec: 2.1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A5D6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image_base64: "/9j/4AAQ..."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97D954-6B25-17A1-617B-3551F5CC660F}"/>
              </a:ext>
            </a:extLst>
          </p:cNvPr>
          <p:cNvSpPr txBox="1"/>
          <p:nvPr/>
        </p:nvSpPr>
        <p:spPr>
          <a:xfrm>
            <a:off x="6355080" y="1609344"/>
            <a:ext cx="5029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5A6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Agents 1 &amp; 2 → Agent 3  (session end)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2C4357-C9A3-E67D-137D-3A5DEFD9067B}"/>
              </a:ext>
            </a:extLst>
          </p:cNvPr>
          <p:cNvSpPr txBox="1"/>
          <p:nvPr/>
        </p:nvSpPr>
        <p:spPr>
          <a:xfrm>
            <a:off x="6355080" y="1993392"/>
            <a:ext cx="4824549" cy="2112566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1400">
                <a:solidFill>
                  <a:srgbClr val="F5A62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SessionSummaryPayload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DD3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user_profile: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weight_kg: 70, goal: "general fitness"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7DD3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session_summary: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total_reps: 20, duration_seconds: 90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met_value: 5.0, calculated_calories: 8.75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total_posture_faults: 2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form_audit_diagnostics: [</a:t>
            </a:r>
          </a:p>
          <a:p>
            <a:pPr>
              <a:lnSpc>
                <a:spcPct val="105000"/>
              </a:lnSpc>
            </a:pPr>
            <a:r>
              <a:rPr sz="1400">
                <a:solidFill>
                  <a:srgbClr val="A5D6A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"Torso folding forward, brace core..." ]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263A3E-4D77-9AF0-FF51-C74BC991E676}"/>
              </a:ext>
            </a:extLst>
          </p:cNvPr>
          <p:cNvSpPr txBox="1"/>
          <p:nvPr/>
        </p:nvSpPr>
        <p:spPr>
          <a:xfrm>
            <a:off x="766356" y="5074920"/>
            <a:ext cx="966867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 dirty="0">
                <a:solidFill>
                  <a:srgbClr val="F47676"/>
                </a:solidFill>
                <a:latin typeface="Calibri"/>
              </a:rPr>
              <a:t>Agent 1 → Agent 4 (voice triggers, direct calls)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03030B-690F-02C1-C8FB-26FFB49C673C}"/>
              </a:ext>
            </a:extLst>
          </p:cNvPr>
          <p:cNvSpPr txBox="1"/>
          <p:nvPr/>
        </p:nvSpPr>
        <p:spPr>
          <a:xfrm>
            <a:off x="766356" y="5435409"/>
            <a:ext cx="9749246" cy="5250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dirty="0">
                <a:solidFill>
                  <a:srgbClr val="F476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announce_rep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rep_count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· 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announce_posture_alert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alert_count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400" b="1" dirty="0">
                <a:solidFill>
                  <a:srgbClr val="F4767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› 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announce_form_note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(note,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is_first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 · 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announce_session_complete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rep_count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duration_seconds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sz="1400" dirty="0" err="1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fault_count</a:t>
            </a:r>
            <a:r>
              <a:rPr sz="1400" dirty="0">
                <a:solidFill>
                  <a:srgbClr val="F5F7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976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964E7B4-905A-33C5-665C-1763C8DAE0D2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FF5FC7-9121-335F-3AEC-59A9D5AB0F8D}"/>
              </a:ext>
            </a:extLst>
          </p:cNvPr>
          <p:cNvSpPr txBox="1"/>
          <p:nvPr/>
        </p:nvSpPr>
        <p:spPr>
          <a:xfrm>
            <a:off x="822960" y="2468880"/>
            <a:ext cx="9144000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 i="0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7DECF-11CC-D250-4BA8-6BFFB07AF038}"/>
              </a:ext>
            </a:extLst>
          </p:cNvPr>
          <p:cNvSpPr txBox="1"/>
          <p:nvPr/>
        </p:nvSpPr>
        <p:spPr>
          <a:xfrm>
            <a:off x="822960" y="3337560"/>
            <a:ext cx="9601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latin typeface="Arial" panose="020B0604020202020204" pitchFamily="34" charset="0"/>
                <a:cs typeface="Arial" panose="020B0604020202020204" pitchFamily="34" charset="0"/>
              </a:rPr>
              <a:t>Questions? Explore the code, tests, and docs in the repository.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2E1255-5B3C-C44D-A796-78ECC9ABED6F}"/>
              </a:ext>
            </a:extLst>
          </p:cNvPr>
          <p:cNvSpPr txBox="1"/>
          <p:nvPr/>
        </p:nvSpPr>
        <p:spPr>
          <a:xfrm>
            <a:off x="822960" y="3977639"/>
            <a:ext cx="9601200" cy="549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README.md</a:t>
            </a:r>
            <a:r>
              <a:rPr sz="1400" b="0" i="0" dirty="0">
                <a:latin typeface="Arial" panose="020B0604020202020204" pitchFamily="34" charset="0"/>
                <a:cs typeface="Arial" panose="020B0604020202020204" pitchFamily="34" charset="0"/>
              </a:rPr>
              <a:t> — quick start &amp; usage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latin typeface="Arial" panose="020B0604020202020204" pitchFamily="34" charset="0"/>
                <a:cs typeface="Arial" panose="020B0604020202020204" pitchFamily="34" charset="0"/>
              </a:rPr>
              <a:t>agent.md</a:t>
            </a:r>
            <a:r>
              <a:rPr sz="1400" b="0" i="0" dirty="0">
                <a:latin typeface="Arial" panose="020B0604020202020204" pitchFamily="34" charset="0"/>
                <a:cs typeface="Arial" panose="020B0604020202020204" pitchFamily="34" charset="0"/>
              </a:rPr>
              <a:t> — full agent specification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6EBF36-2AF7-FD96-1977-BB5D42ACE847}"/>
              </a:ext>
            </a:extLst>
          </p:cNvPr>
          <p:cNvSpPr txBox="1"/>
          <p:nvPr/>
        </p:nvSpPr>
        <p:spPr>
          <a:xfrm>
            <a:off x="548640" y="6528816"/>
            <a:ext cx="548640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latin typeface="Arial" panose="020B0604020202020204" pitchFamily="34" charset="0"/>
                <a:cs typeface="Arial" panose="020B0604020202020204" pitchFamily="34" charset="0"/>
              </a:rPr>
              <a:t>AI Posture Rep Assistant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6DE58-57CD-D811-EBA3-E7DCC9E10B3C}"/>
              </a:ext>
            </a:extLst>
          </p:cNvPr>
          <p:cNvSpPr txBox="1"/>
          <p:nvPr/>
        </p:nvSpPr>
        <p:spPr>
          <a:xfrm>
            <a:off x="10881360" y="6528816"/>
            <a:ext cx="82296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latin typeface="Arial" panose="020B0604020202020204" pitchFamily="34" charset="0"/>
                <a:cs typeface="Arial" panose="020B0604020202020204" pitchFamily="34" charset="0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1273</Words>
  <Application>Microsoft Macintosh PowerPoint</Application>
  <PresentationFormat>Widescreen</PresentationFormat>
  <Paragraphs>225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Bebas Neue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8</cp:revision>
  <dcterms:created xsi:type="dcterms:W3CDTF">2013-01-27T09:14:16Z</dcterms:created>
  <dcterms:modified xsi:type="dcterms:W3CDTF">2026-08-27T16:38:31Z</dcterms:modified>
  <cp:category/>
</cp:coreProperties>
</file>
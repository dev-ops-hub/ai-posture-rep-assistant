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09760" y="4023360"/>
            <a:ext cx="4206240" cy="420624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MULTI-AGENT AI FITNESS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8961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800" b="1" i="0">
                <a:solidFill>
                  <a:srgbClr val="F5F7FA"/>
                </a:solidFill>
                <a:latin typeface="Calibri"/>
              </a:rPr>
              <a:t>AI Posture Rep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800" b="1" i="0">
                <a:solidFill>
                  <a:srgbClr val="F5F7FA"/>
                </a:solidFill>
                <a:latin typeface="Calibri"/>
              </a:rPr>
              <a:t>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CA9C0"/>
                </a:solidFill>
                <a:latin typeface="Calibri"/>
              </a:rPr>
              <a:t>Real-time squat rep counting, posture-fault detection, and AI-generated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9CA9C0"/>
                </a:solidFill>
                <a:latin typeface="Calibri"/>
              </a:rPr>
              <a:t>coaching — built as four cooperating edge + cloud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1241755" cy="384048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50" b="1">
                <a:solidFill>
                  <a:srgbClr val="2DD4BF"/>
                </a:solidFill>
                <a:latin typeface="Calibri"/>
              </a:rPr>
              <a:t>Python 3.11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1019" y="4297680"/>
            <a:ext cx="1062532" cy="384048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50" b="1">
                <a:solidFill>
                  <a:srgbClr val="2DD4BF"/>
                </a:solidFill>
                <a:latin typeface="Calibri"/>
              </a:rPr>
              <a:t>MediaPipe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5" y="4297680"/>
            <a:ext cx="793699" cy="384048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50" b="1">
                <a:solidFill>
                  <a:srgbClr val="2DD4BF"/>
                </a:solidFill>
                <a:latin typeface="Calibri"/>
              </a:rPr>
              <a:t>OpenCV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9858" y="4297680"/>
            <a:ext cx="1420977" cy="384048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50" b="1">
                <a:solidFill>
                  <a:srgbClr val="2DD4BF"/>
                </a:solidFill>
                <a:latin typeface="Calibri"/>
              </a:rPr>
              <a:t>OpenAI GPT-4o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27139" y="4297680"/>
            <a:ext cx="704088" cy="384048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50" b="1">
                <a:solidFill>
                  <a:srgbClr val="2DD4BF"/>
                </a:solidFill>
                <a:latin typeface="Calibri"/>
              </a:rPr>
              <a:t>Flask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77531" y="4297680"/>
            <a:ext cx="883310" cy="384048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50" b="1">
                <a:solidFill>
                  <a:srgbClr val="2DD4BF"/>
                </a:solidFill>
                <a:latin typeface="Calibri"/>
              </a:rPr>
              <a:t>pyttsx3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6B7891"/>
                </a:solidFill>
                <a:latin typeface="Calibri"/>
              </a:rPr>
              <a:t>System Design &amp; Architecture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7891"/>
                </a:solidFill>
                <a:latin typeface="Calibri"/>
              </a:rPr>
              <a:t>docs/ · generated from source + agent.md / plan.md / 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0784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82496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116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Core capabilities: rep counting, posture detection, AI coaching, voice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700784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682496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Multi-Agent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1168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Four cooperating agents spanning edge and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24912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71216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52928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Agent Deep 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8211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Runtime, libraries, triggers, cost, and test coverage per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24912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871216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52928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Data Contracts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182112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The event/payload schemas agents exchange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95344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041648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02336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Vision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352544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How rep-counting accuracy was hardened against jitter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895344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041648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02336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Web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352544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Flask control panel, session state machine, REST + MJPEG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65776"/>
            <a:ext cx="5257800" cy="100584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212080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0E7C86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193792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Stack, Testing &amp;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522976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Technology matrix, 89-test suite, and per-session economics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What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82296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544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Local rep 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CA9C0"/>
                </a:solidFill>
                <a:latin typeface="Calibri"/>
              </a:rPr>
              <a:t>Tracks squat reps in real time with OpenCV + MediaPipe + NumPy — zero network latency.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82296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55448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Posture-fault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1938528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CA9C0"/>
                </a:solidFill>
                <a:latin typeface="Calibri"/>
              </a:rPr>
              <a:t>Flags sustained forward-lean (spine angle) deviations from pose landmarks.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8229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5292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Real-time voice coaching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36976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CA9C0"/>
                </a:solidFill>
                <a:latin typeface="Calibri"/>
              </a:rPr>
              <a:t>Offline TTS delivers milestones, alerts, and corrections mid-set.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852928"/>
            <a:ext cx="8229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85292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AI vision form audits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236976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CA9C0"/>
                </a:solidFill>
                <a:latin typeface="Calibri"/>
              </a:rPr>
              <a:t>Sends posture snapshots to GPT-4o when a fault persists &gt;2s (max 2 calls/session).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51376"/>
            <a:ext cx="82296" cy="1078992"/>
          </a:xfrm>
          <a:prstGeom prst="rect">
            <a:avLst/>
          </a:prstGeom>
          <a:solidFill>
            <a:srgbClr val="8B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1513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Post-workout AI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535424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CA9C0"/>
                </a:solidFill>
                <a:latin typeface="Calibri"/>
              </a:rPr>
              <a:t>GPT-4o-mini synthesizes reps, calories, and faults into a coaching report.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151376"/>
            <a:ext cx="82296" cy="1078992"/>
          </a:xfrm>
          <a:prstGeom prst="rect">
            <a:avLst/>
          </a:prstGeom>
          <a:solidFill>
            <a:srgbClr val="8B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15137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Calibri"/>
              </a:rPr>
              <a:t>Browser control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535424"/>
            <a:ext cx="5074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9CA9C0"/>
                </a:solidFill>
                <a:latin typeface="Calibri"/>
              </a:rPr>
              <a:t>Flask UI with Start/Pause/Stop/Quit, a live annotated video stream, and a report modal.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Four Agents, One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0881360" cy="896112"/>
          </a:xfrm>
          <a:prstGeom prst="roundRect">
            <a:avLst>
              <a:gd name="adj" fmla="val 9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89611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6420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5F7FA"/>
                </a:solidFill>
                <a:latin typeface="Calibri"/>
              </a:rPr>
              <a:t>Agent 1 · Vision &amp;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02996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>
                <a:solidFill>
                  <a:srgbClr val="2DD4BF"/>
                </a:solidFill>
                <a:latin typeface="Calibri"/>
              </a:rPr>
              <a:t>Local · Python 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1691640"/>
            <a:ext cx="5760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CA9C0"/>
                </a:solidFill>
                <a:latin typeface="Calibri"/>
              </a:rPr>
              <a:t>MediaPipe Pose (33 landmarks, 30 FPS) + NumPy angle geometry drive a squat FSM and posture-violation detector.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5288" y="169164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DD4BF"/>
                </a:solidFill>
                <a:latin typeface="Calibri"/>
              </a:rPr>
              <a:t>$0.00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07008" y="2468880"/>
            <a:ext cx="0" cy="146304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615184"/>
            <a:ext cx="10881360" cy="896112"/>
          </a:xfrm>
          <a:prstGeom prst="roundRect">
            <a:avLst>
              <a:gd name="adj" fmla="val 9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15184"/>
            <a:ext cx="82296" cy="896112"/>
          </a:xfrm>
          <a:prstGeom prst="rect">
            <a:avLst/>
          </a:prstGeom>
          <a:solidFill>
            <a:srgbClr val="8B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06624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5F7FA"/>
                </a:solidFill>
                <a:latin typeface="Calibri"/>
              </a:rPr>
              <a:t>Agent 2 · Form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072384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>
                <a:solidFill>
                  <a:srgbClr val="8B8CF8"/>
                </a:solidFill>
                <a:latin typeface="Calibri"/>
              </a:rPr>
              <a:t>Cloud · GPT-4o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734056"/>
            <a:ext cx="5760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CA9C0"/>
                </a:solidFill>
                <a:latin typeface="Calibri"/>
              </a:rPr>
              <a:t>Encodes the current frame to base64 JPEG and requests a 1-2 sentence biomechanical diagnosis when a fault persists.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5288" y="2734056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8B8CF8"/>
                </a:solidFill>
                <a:latin typeface="Calibri"/>
              </a:rPr>
              <a:t>~$0.0025 / snapshot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07008" y="3511296"/>
            <a:ext cx="0" cy="146304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3657600"/>
            <a:ext cx="10881360" cy="896112"/>
          </a:xfrm>
          <a:prstGeom prst="roundRect">
            <a:avLst>
              <a:gd name="adj" fmla="val 9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657600"/>
            <a:ext cx="82296" cy="89611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74904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5F7FA"/>
                </a:solidFill>
                <a:latin typeface="Calibri"/>
              </a:rPr>
              <a:t>Agent 3 · Fitness Coach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1148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>
                <a:solidFill>
                  <a:srgbClr val="F5A623"/>
                </a:solidFill>
                <a:latin typeface="Calibri"/>
              </a:rPr>
              <a:t>Cloud · GPT-4o-mini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3776472"/>
            <a:ext cx="5760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CA9C0"/>
                </a:solidFill>
                <a:latin typeface="Calibri"/>
              </a:rPr>
              <a:t>Aggregates reps, duration, MET-based calories, and audit notes into a personalized post-workout summary.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377647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5A623"/>
                </a:solidFill>
                <a:latin typeface="Calibri"/>
              </a:rPr>
              <a:t>~$0.0001 / session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07008" y="4553712"/>
            <a:ext cx="0" cy="146304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" y="4700016"/>
            <a:ext cx="10881360" cy="896112"/>
          </a:xfrm>
          <a:prstGeom prst="roundRect">
            <a:avLst>
              <a:gd name="adj" fmla="val 9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00016"/>
            <a:ext cx="82296" cy="896112"/>
          </a:xfrm>
          <a:prstGeom prst="rect">
            <a:avLst/>
          </a:prstGeom>
          <a:solidFill>
            <a:srgbClr val="F47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79145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5F7FA"/>
                </a:solidFill>
                <a:latin typeface="Calibri"/>
              </a:rPr>
              <a:t>Agent 4 · Voice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5157216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00" b="1">
                <a:solidFill>
                  <a:srgbClr val="F47676"/>
                </a:solidFill>
                <a:latin typeface="Calibri"/>
              </a:rPr>
              <a:t>Local · pyttsx3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4818888"/>
            <a:ext cx="5760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9CA9C0"/>
                </a:solidFill>
                <a:latin typeface="Calibri"/>
              </a:rPr>
              <a:t>Background TTS thread announces milestones, posture alerts, and an adaptive session-complete summary.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4818888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47676"/>
                </a:solidFill>
                <a:latin typeface="Calibri"/>
              </a:rPr>
              <a:t>$0.00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109958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76628"/>
                <a:gridCol w="1142145"/>
                <a:gridCol w="1972796"/>
                <a:gridCol w="2699616"/>
                <a:gridCol w="1557471"/>
                <a:gridCol w="166130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D4B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D4BF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D4BF"/>
                          </a:solidFill>
                          <a:latin typeface="Calibri"/>
                        </a:rPr>
                        <a:t>Key Libraries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D4B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D4B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D4BF"/>
                          </a:solidFill>
                          <a:latin typeface="Calibri"/>
                        </a:rPr>
                        <a:t>Test Coverage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1 · Vision &amp; Tracking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Local CPU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mediapipe, numpy, opencv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Continuous (while cap.isOpened())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&lt;33ms / frame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87% · 28 tests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2 · Form Audit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Cloud API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openai, base64, cv2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Sustained fault &gt;2.0s (max 2/session)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~2-3s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100% · 9 tests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3 · Fitness Coach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Cloud API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openai, json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End of session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~1-2s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100% · 12 tests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4 · Voice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Local thread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pyttsx3, queue, threading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Vision/session events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&lt;50ms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5F7FA"/>
                          </a:solidFill>
                          <a:latin typeface="Calibri"/>
                        </a:rPr>
                        <a:t>79% · 23 tests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Key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56048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process_frame() </a:t>
            </a:r>
            <a:r>
              <a:rPr sz="1150">
                <a:solidFill>
                  <a:srgbClr val="F5F7FA"/>
                </a:solidFill>
                <a:latin typeface="Calibri"/>
              </a:rPr>
              <a:t>— main pipeline: annotated frame, metrics, violation events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_estimate_knee_angle() </a:t>
            </a:r>
            <a:r>
              <a:rPr sz="1150">
                <a:solidFill>
                  <a:srgbClr val="F5F7FA"/>
                </a:solidFill>
                <a:latin typeface="Calibri"/>
              </a:rPr>
              <a:t>— visibility-gated dual-leg fusion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_smooth_knee_angle() </a:t>
            </a:r>
            <a:r>
              <a:rPr sz="1150">
                <a:solidFill>
                  <a:srgbClr val="F5F7FA"/>
                </a:solidFill>
                <a:latin typeface="Calibri"/>
              </a:rPr>
              <a:t>— EMA filter ahead of the rep FSM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_update_rep_state() </a:t>
            </a:r>
            <a:r>
              <a:rPr sz="1150">
                <a:solidFill>
                  <a:srgbClr val="F5F7FA"/>
                </a:solidFill>
                <a:latin typeface="Calibri"/>
              </a:rPr>
              <a:t>— FSM with a minimum inter-rep cooldown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956048"/>
            <a:ext cx="5394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audit_posture() </a:t>
            </a:r>
            <a:r>
              <a:rPr sz="1150">
                <a:solidFill>
                  <a:srgbClr val="F5F7FA"/>
                </a:solidFill>
                <a:latin typeface="Calibri"/>
              </a:rPr>
              <a:t>— fallback to deterministic feedback w/o an API key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build_summary() </a:t>
            </a:r>
            <a:r>
              <a:rPr sz="1150">
                <a:solidFill>
                  <a:srgbClr val="F5F7FA"/>
                </a:solidFill>
                <a:latin typeface="Calibri"/>
              </a:rPr>
              <a:t>— MET calorie math + templated fallback summary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Calibri"/>
              </a:rPr>
              <a:t>›  </a:t>
            </a:r>
            <a:r>
              <a:rPr sz="1150" b="1">
                <a:solidFill>
                  <a:srgbClr val="F5F7FA"/>
                </a:solidFill>
                <a:latin typeface="Calibri"/>
              </a:rPr>
              <a:t>announce_*() </a:t>
            </a:r>
            <a:r>
              <a:rPr sz="1150">
                <a:solidFill>
                  <a:srgbClr val="F5F7FA"/>
                </a:solidFill>
                <a:latin typeface="Calibri"/>
              </a:rPr>
              <a:t>— rep milestones, posture alerts, form notes, session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Data Contracts Between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93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DD4BF"/>
                </a:solidFill>
                <a:latin typeface="Calibri"/>
              </a:rPr>
              <a:t>Agent 1 → Agent 2  (on posture 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2DD4BF"/>
                </a:solidFill>
                <a:latin typeface="Menlo"/>
              </a:rPr>
              <a:t>PostureViolationEvent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sender: "Agent_1_Vision"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recipient: "Agent_2_FormAudit"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event_type: "POSTURE_VIOLATION"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7DD3FC"/>
                </a:solidFill>
                <a:latin typeface="Menlo"/>
              </a:rPr>
              <a:t>  metrics: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spine_angle_deg: 22.4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knee_angle_deg: 84.1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violation_duration_sec: 2.1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A5D6A7"/>
                </a:solidFill>
                <a:latin typeface="Menlo"/>
              </a:rPr>
              <a:t>  image_base64: "/9j/4AAQ..."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94960" cy="365760"/>
          </a:xfrm>
          <a:prstGeom prst="rect">
            <a:avLst/>
          </a:prstGeom>
          <a:solidFill>
            <a:srgbClr val="1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093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Agents 1 &amp; 2 → Agent 3  (session 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93392"/>
            <a:ext cx="5029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F5A623"/>
                </a:solidFill>
                <a:latin typeface="Menlo"/>
              </a:rPr>
              <a:t>SessionSummaryPayload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7DD3FC"/>
                </a:solidFill>
                <a:latin typeface="Menlo"/>
              </a:rPr>
              <a:t>  user_profile: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weight_kg: 70, goal: "general fitness"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7DD3FC"/>
                </a:solidFill>
                <a:latin typeface="Menlo"/>
              </a:rPr>
              <a:t>  session_summary: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total_reps: 20, duration_seconds: 90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met_value: 5.0, calculated_calories: 8.75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  total_posture_faults: 2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F5F7FA"/>
                </a:solidFill>
                <a:latin typeface="Menlo"/>
              </a:rPr>
              <a:t>  form_audit_diagnostics: [</a:t>
            </a:r>
          </a:p>
          <a:p>
            <a:pPr>
              <a:lnSpc>
                <a:spcPct val="105000"/>
              </a:lnSpc>
            </a:pPr>
            <a:r>
              <a:rPr sz="1050">
                <a:solidFill>
                  <a:srgbClr val="A5D6A7"/>
                </a:solidFill>
                <a:latin typeface="Menlo"/>
              </a:rPr>
              <a:t>    "Torso folding forward, brace core..."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47676"/>
                </a:solidFill>
                <a:latin typeface="Calibri"/>
              </a:rPr>
              <a:t>Agent 1 → Agent 4 (voice triggers, direct calls)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68112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47676"/>
                </a:solidFill>
                <a:latin typeface="Calibri"/>
              </a:rPr>
              <a:t>›  </a:t>
            </a:r>
            <a:r>
              <a:rPr sz="1200">
                <a:solidFill>
                  <a:srgbClr val="F5F7FA"/>
                </a:solidFill>
                <a:latin typeface="Calibri"/>
              </a:rPr>
              <a:t>announce_rep(rep_count)  ·  announce_posture_alert(alert_count)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F47676"/>
                </a:solidFill>
                <a:latin typeface="Calibri"/>
              </a:rPr>
              <a:t>›  </a:t>
            </a:r>
            <a:r>
              <a:rPr sz="1200">
                <a:solidFill>
                  <a:srgbClr val="F5F7FA"/>
                </a:solidFill>
                <a:latin typeface="Calibri"/>
              </a:rPr>
              <a:t>announce_form_note(note, is_first)  ·  announce_session_complete(rep_count, duration_seconds, fault_count)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ENGINEERING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Hardening Rep-Counting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9CA9C0"/>
                </a:solidFill>
                <a:latin typeface="Calibri"/>
              </a:rPr>
              <a:t>Single-frame, left-leg-only, 2D angle math mis-counted reps under MediaPipe jitter or occlusion. Five fixes in vision_agent.py: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947672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Dual-leg averaging + visibility gating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231136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9CA9C0"/>
                </a:solidFill>
                <a:latin typeface="Calibri"/>
              </a:rPr>
              <a:t>Averages both knees when reliable; falls back to one leg, or holds the last angle, using MediaPipe's per-landmark visibility score (min_landmark_visibility=0.5).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0720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788920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3D angle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072384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9CA9C0"/>
                </a:solidFill>
                <a:latin typeface="Calibri"/>
              </a:rPr>
              <a:t>_angle() now uses a vector dot-product/arccos formula over (x, y, z), reducing sensitivity to the user's orientation relative to the camera.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4845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630168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EMA smoothing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913632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9CA9C0"/>
                </a:solidFill>
                <a:latin typeface="Calibri"/>
              </a:rPr>
              <a:t>_smooth_knee_angle() (weight knee_angle_smoothing=0.4) filters per-frame jitter before it reaches the rep state machine.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8970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8970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471416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Minimum inter-rep cooldown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754880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9CA9C0"/>
                </a:solidFill>
                <a:latin typeface="Calibri"/>
              </a:rPr>
              <a:t>min_rep_interval_sec=0.3s stops two reps from firing in rapid succession if the angle oscillates near the standing threshold.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309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3095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DD4B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312664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Configurable thresholds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596128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9CA9C0"/>
                </a:solidFill>
                <a:latin typeface="Calibri"/>
              </a:rPr>
              <a:t>standing_angle_threshold_deg (160°) and bottom_angle_threshold_deg (90°) are constructor parameters, not magic numbers.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996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B7891"/>
                </a:solidFill>
                <a:latin typeface="Calibri"/>
              </a:rPr>
              <a:t>Result: 28 vision-agent tests (up from 19) cover smoothing, dual-leg fallback, visibility gating, and the debounce — all pre-existing tests still pass.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Browser Control Panel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1554480"/>
            <a:ext cx="5029200" cy="685800"/>
          </a:xfrm>
          <a:prstGeom prst="roundRect">
            <a:avLst>
              <a:gd name="adj" fmla="val 15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554480"/>
            <a:ext cx="5029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Calibri"/>
              </a:rPr>
              <a:t>Browser UI — Start / Pause / Stop / Quit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240280"/>
            <a:ext cx="0" cy="256032"/>
          </a:xfrm>
          <a:prstGeom prst="line">
            <a:avLst/>
          </a:prstGeom>
          <a:ln w="2857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94560" y="2496312"/>
            <a:ext cx="7772400" cy="1051560"/>
          </a:xfrm>
          <a:prstGeom prst="roundRect">
            <a:avLst>
              <a:gd name="adj" fmla="val 8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5877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webapp/app.py  (Flask routes)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907792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80" b="1">
                <a:solidFill>
                  <a:srgbClr val="2DD4BF"/>
                </a:solidFill>
                <a:latin typeface="Calibri"/>
              </a:rPr>
              <a:t>›  </a:t>
            </a:r>
            <a:r>
              <a:rPr sz="1080">
                <a:solidFill>
                  <a:srgbClr val="F5F7FA"/>
                </a:solidFill>
                <a:latin typeface="Calibri"/>
              </a:rPr>
              <a:t>/api/start · /api/pause · /api/stop · /api/quit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80" b="1">
                <a:solidFill>
                  <a:srgbClr val="2DD4BF"/>
                </a:solidFill>
                <a:latin typeface="Calibri"/>
              </a:rPr>
              <a:t>›  </a:t>
            </a:r>
            <a:r>
              <a:rPr sz="1080">
                <a:solidFill>
                  <a:srgbClr val="F5F7FA"/>
                </a:solidFill>
                <a:latin typeface="Calibri"/>
              </a:rPr>
              <a:t>/api/status  (polled ~800ms)   ·   /video_feed  (MJPEG stream of annotated frames)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547872"/>
            <a:ext cx="0" cy="256032"/>
          </a:xfrm>
          <a:prstGeom prst="line">
            <a:avLst/>
          </a:prstGeom>
          <a:ln w="28575">
            <a:solidFill>
              <a:srgbClr val="2DD4B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63040" y="3803904"/>
            <a:ext cx="9144000" cy="1600200"/>
          </a:xfrm>
          <a:prstGeom prst="roundRect">
            <a:avLst>
              <a:gd name="adj" fmla="val 6000"/>
            </a:avLst>
          </a:prstGeom>
          <a:solidFill>
            <a:srgbClr val="131D30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389534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webapp/session_manager.py — WorkoutSessionManager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4528"/>
            <a:ext cx="8686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60" b="1">
                <a:solidFill>
                  <a:srgbClr val="F5A623"/>
                </a:solidFill>
                <a:latin typeface="Calibri"/>
              </a:rPr>
              <a:t>›  </a:t>
            </a:r>
            <a:r>
              <a:rPr sz="1060">
                <a:solidFill>
                  <a:srgbClr val="F5F7FA"/>
                </a:solidFill>
                <a:latin typeface="Calibri"/>
              </a:rPr>
              <a:t>Thread-safe state machine:  idle → running ⇄ paused → stopped / closed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60" b="1">
                <a:solidFill>
                  <a:srgbClr val="F5A623"/>
                </a:solidFill>
                <a:latin typeface="Calibri"/>
              </a:rPr>
              <a:t>›  </a:t>
            </a:r>
            <a:r>
              <a:rPr sz="1060">
                <a:solidFill>
                  <a:srgbClr val="F5F7FA"/>
                </a:solidFill>
                <a:latin typeface="Calibri"/>
              </a:rPr>
              <a:t>Owns a background capture thread calling VisionAgent.process_frame() every loop iteration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60" b="1">
                <a:solidFill>
                  <a:srgbClr val="F5A623"/>
                </a:solidFill>
                <a:latin typeface="Calibri"/>
              </a:rPr>
              <a:t>›  </a:t>
            </a:r>
            <a:r>
              <a:rPr sz="1060">
                <a:solidFill>
                  <a:srgbClr val="F5F7FA"/>
                </a:solidFill>
                <a:latin typeface="Calibri"/>
              </a:rPr>
              <a:t>Dispatches FormAuditAgent calls on a ThreadPoolExecutor; drives VoiceAgent announcements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60" b="1">
                <a:solidFill>
                  <a:srgbClr val="F5A623"/>
                </a:solidFill>
                <a:latin typeface="Calibri"/>
              </a:rPr>
              <a:t>›  </a:t>
            </a:r>
            <a:r>
              <a:rPr sz="1060">
                <a:solidFill>
                  <a:srgbClr val="F5F7FA"/>
                </a:solidFill>
                <a:latin typeface="Calibri"/>
              </a:rPr>
              <a:t>Builds the end-of-session report via FitnessCoachAgent (reps, calories, faults, tips)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Session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15875">
            <a:solidFill>
              <a:srgbClr val="6B78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39696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6B7891"/>
                </a:solidFill>
                <a:latin typeface="Calibri"/>
              </a:rPr>
              <a:t>idle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487168"/>
            <a:ext cx="17099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CA9C0"/>
                </a:solidFill>
                <a:latin typeface="Calibri"/>
              </a:rPr>
              <a:t>No session yet, or after Quit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606040"/>
            <a:ext cx="256032" cy="0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0632" y="201168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139696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DD4BF"/>
                </a:solidFill>
                <a:latin typeface="Calibri"/>
              </a:rPr>
              <a:t>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487168"/>
            <a:ext cx="17099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CA9C0"/>
                </a:solidFill>
                <a:latin typeface="Calibri"/>
              </a:rPr>
              <a:t>Camera loop active; reps + posture tracked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36592" y="2606040"/>
            <a:ext cx="256032" cy="0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92624" y="201168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2624" y="2139696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A623"/>
                </a:solidFill>
                <a:latin typeface="Calibri"/>
              </a:rPr>
              <a:t>paused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87168"/>
            <a:ext cx="17099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CA9C0"/>
                </a:solidFill>
                <a:latin typeface="Calibri"/>
              </a:rPr>
              <a:t>Capture thread alive, frame processing skipped; timer frozen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58584" y="2606040"/>
            <a:ext cx="256032" cy="0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14616" y="201168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15875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2139696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8B8CF8"/>
                </a:solidFill>
                <a:latin typeface="Calibri"/>
              </a:rPr>
              <a:t>stopped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2487168"/>
            <a:ext cx="17099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CA9C0"/>
                </a:solidFill>
                <a:latin typeface="Calibri"/>
              </a:rPr>
              <a:t>Ended via Stop; camera/voice released; report available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80576" y="2606040"/>
            <a:ext cx="256032" cy="0"/>
          </a:xfrm>
          <a:prstGeom prst="line">
            <a:avLst/>
          </a:prstGeom>
          <a:ln w="28575">
            <a:solidFill>
              <a:srgbClr val="2735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36608" y="2011680"/>
            <a:ext cx="1965960" cy="1188720"/>
          </a:xfrm>
          <a:prstGeom prst="roundRect">
            <a:avLst>
              <a:gd name="adj" fmla="val 10000"/>
            </a:avLst>
          </a:prstGeom>
          <a:solidFill>
            <a:srgbClr val="131D30"/>
          </a:solidFill>
          <a:ln w="15875">
            <a:solidFill>
              <a:srgbClr val="F47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2139696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47676"/>
                </a:solidFill>
                <a:latin typeface="Calibri"/>
              </a:rPr>
              <a:t>closed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2487168"/>
            <a:ext cx="17099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 i="0">
                <a:solidFill>
                  <a:srgbClr val="9CA9C0"/>
                </a:solidFill>
                <a:latin typeface="Calibri"/>
              </a:rPr>
              <a:t>Ended via Quit; camera/voice released; Flask process shuts 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56616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6B7891"/>
                </a:solidFill>
                <a:latin typeface="Calibri"/>
              </a:rPr>
              <a:t>running ⇄ paused via toggle_pause() — the loop back-arrow (not drawn) represents Resume.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Report Contents (built on Stop / Quit)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8056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›  </a:t>
            </a:r>
            <a:r>
              <a:rPr sz="1150">
                <a:solidFill>
                  <a:srgbClr val="F5F7FA"/>
                </a:solidFill>
                <a:latin typeface="Calibri"/>
              </a:rPr>
              <a:t>total_reps, duration, calories, total_posture_faults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›  </a:t>
            </a:r>
            <a:r>
              <a:rPr sz="1150">
                <a:solidFill>
                  <a:srgbClr val="F5F7FA"/>
                </a:solidFill>
                <a:latin typeface="Calibri"/>
              </a:rPr>
              <a:t>coach_summary — GPT-4o-mini, falls back locally w/o an API 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48056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Calibri"/>
              </a:rPr>
              <a:t>›  </a:t>
            </a:r>
            <a:r>
              <a:rPr sz="1150">
                <a:solidFill>
                  <a:srgbClr val="F5F7FA"/>
                </a:solidFill>
                <a:latin typeface="Calibri"/>
              </a:rPr>
              <a:t>improvement_tips — heuristics on pace, faults, low rep count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Calibri"/>
              </a:rPr>
              <a:t>›  </a:t>
            </a:r>
            <a:r>
              <a:rPr sz="1150">
                <a:solidFill>
                  <a:srgbClr val="F5F7FA"/>
                </a:solidFill>
                <a:latin typeface="Calibri"/>
              </a:rPr>
              <a:t>form_audit_diagnostics — raw list of audit notes from the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109958" cy="4160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16182"/>
                <a:gridCol w="2380705"/>
                <a:gridCol w="6613071"/>
              </a:tblGrid>
              <a:tr h="4622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DD4B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Python 3.11+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Unified runtime for CV, logic, and LLM orchestration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Video pipeline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opencv-python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Webcam input, canvas drawing, frame output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Pose detection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mediapipe 0.10.9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33 3D body keypoint tracking at 30+ FPS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Math / geometry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Vector operations for joint-angle calculation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AI coaching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openai SDK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Multimodal form auditing + session summaries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Voice feedback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pyttsx3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Local offline text-to-speech coaching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Web frontend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Flask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Control panel, REST API, MJPEG video streaming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pytest, pytest-cov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F5F7FA"/>
                          </a:solidFill>
                          <a:latin typeface="Calibri"/>
                        </a:rPr>
                        <a:t>Unit testing — 89 tests, 77% coverage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Testing &amp;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passing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6420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1284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overall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6420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1284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test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66420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$0.10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212848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CA9C0"/>
                </a:solidFill>
                <a:latin typeface="Calibri"/>
              </a:rPr>
              <a:t>est. / month, 20 workouts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834640"/>
          <a:ext cx="7040878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79627"/>
                <a:gridCol w="1836751"/>
                <a:gridCol w="1224500"/>
              </a:tblGrid>
              <a:tr h="36004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DD4B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DD4BF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DD4B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server/agents/models.py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server/agents/audit_agent.py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server/agents/coach_agent.py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server/agents/voice_agent.py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server/agents/vision_agent.py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28%*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webapp/session_manager.py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— (dedicated file)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F5F7F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818120" y="283464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46120"/>
            <a:ext cx="38404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F5A623"/>
                </a:solidFill>
                <a:latin typeface="Calibri"/>
              </a:rPr>
              <a:t>›  </a:t>
            </a:r>
            <a:r>
              <a:rPr sz="1050">
                <a:solidFill>
                  <a:srgbClr val="F5F7FA"/>
                </a:solidFill>
                <a:latin typeface="Calibri"/>
              </a:rPr>
              <a:t>*main.py needs live webcam access for full coverage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F5A623"/>
                </a:solidFill>
                <a:latin typeface="Calibri"/>
              </a:rPr>
              <a:t>›  </a:t>
            </a:r>
            <a:r>
              <a:rPr sz="1050">
                <a:solidFill>
                  <a:srgbClr val="F5F7FA"/>
                </a:solidFill>
                <a:latin typeface="Calibri"/>
              </a:rPr>
              <a:t>webapp/ is covered by its own dedicated test file with a mocked camera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F5A623"/>
                </a:solidFill>
                <a:latin typeface="Calibri"/>
              </a:rPr>
              <a:t>›  </a:t>
            </a:r>
            <a:r>
              <a:rPr sz="1050">
                <a:solidFill>
                  <a:srgbClr val="F5F7FA"/>
                </a:solidFill>
                <a:latin typeface="Calibri"/>
              </a:rPr>
              <a:t>Mocks: OpenAI API, MediaPipe, pyttsx3, webcam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050" b="1">
                <a:solidFill>
                  <a:srgbClr val="F5A623"/>
                </a:solidFill>
                <a:latin typeface="Calibri"/>
              </a:rPr>
              <a:t>›  </a:t>
            </a:r>
            <a:r>
              <a:rPr sz="1050">
                <a:solidFill>
                  <a:srgbClr val="F5F7FA"/>
                </a:solidFill>
                <a:latin typeface="Calibri"/>
              </a:rPr>
              <a:t>HTML coverage reports generated in htmlcov/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Configuration &amp;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Environment Variables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6309359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5182"/>
                <a:gridCol w="1388059"/>
                <a:gridCol w="2776118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USER_WEIGHT_KG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Calorie calculation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FITNESS_GOAL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general fitness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Personalizes coaching copy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WORKOUT_MET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MET value for exercise intensity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CAMERA_INDEX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Webcam device index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OPENAI_API_KEY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(unset)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Enables audit/coach AI; else fallback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VOICE_ENABLED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Toggle voice feedback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VOICE_RATE / VOLUME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150 / 1.0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Speech WPM / volume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WEB_PORT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>
                          <a:solidFill>
                            <a:srgbClr val="F5F7FA"/>
                          </a:solidFill>
                          <a:latin typeface="Calibri"/>
                        </a:rPr>
                        <a:t>Flask dev server port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78040" y="15544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5A623"/>
                </a:solidFill>
                <a:latin typeface="Calibri"/>
              </a:rPr>
              <a:t>Per-Session Cost (OpenAI)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78040" y="1920240"/>
          <a:ext cx="4480560" cy="1600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93520"/>
                <a:gridCol w="1095248"/>
                <a:gridCol w="1891792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DD4B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Vision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runs locally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Voice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runs locally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Audit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~$0.0025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per snapshot (2 typical)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Coach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~$0.0001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F5F7FA"/>
                          </a:solidFill>
                          <a:latin typeface="Calibri"/>
                        </a:rPr>
                        <a:t>per session summary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78040" y="3703320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822192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~$0.0051 per 5-minute workout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2DD4BF"/>
                </a:solidFill>
                <a:latin typeface="Calibri"/>
              </a:rPr>
              <a:t>≈ $0.10 / month at 20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DD4BF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7FA"/>
                </a:solidFill>
                <a:latin typeface="Calibri"/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934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5448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Support for additional exercises (deadlifts, bench press)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934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93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Multi-user profiles with progress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865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865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3172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Historical workout data visualization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8658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8658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Voice commands for hands-free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638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10896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Mobile app 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1638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16382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10896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Real-time form comparison with reference videos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4106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18243B"/>
          </a:solidFill>
          <a:ln w="12700">
            <a:solidFill>
              <a:srgbClr val="8B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9410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B8CF8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88620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7FA"/>
                </a:solidFill>
                <a:latin typeface="Calibri"/>
              </a:rPr>
              <a:t>Integration with fitness tracking platforms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F5F7F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CA9C0"/>
                </a:solidFill>
                <a:latin typeface="Calibri"/>
              </a:rPr>
              <a:t>Questions? Explore the code, tests, and docs in the repository.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CA9C0"/>
                </a:solidFill>
                <a:latin typeface="Calibri"/>
              </a:rPr>
              <a:t>README.md — quick start &amp; usage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CA9C0"/>
                </a:solidFill>
                <a:latin typeface="Calibri"/>
              </a:rPr>
              <a:t>agent.md — full agent specification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CA9C0"/>
                </a:solidFill>
                <a:latin typeface="Calibri"/>
              </a:rPr>
              <a:t>plan.md — implementation roadmap &amp; status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9CA9C0"/>
                </a:solidFill>
                <a:latin typeface="Calibri"/>
              </a:rPr>
              <a:t>TESTING.md · VOICE_FEATURES.md · VOICE_IMPROVEMENTS.md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AI Posture Rep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6B7891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